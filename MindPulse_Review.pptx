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8"/>
    <p:sldId id="257" r:id="rId7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</p:sldIdLst>
  <p:sldSz cy="6858000" cx="9144000"/>
  <p:notesSz cx="6858000" cy="9144000"/>
  <p:embeddedFontLst>
    <p:embeddedFont>
      <p:font typeface="Libre Franklin"/>
      <p:regular r:id="rId9"/>
      <p:bold r:id="rId10"/>
      <p:italic r:id="rId11"/>
      <p:boldItalic r:id="rId12"/>
    </p:embeddedFont>
    <p:embeddedFont>
      <p:font typeface="Libre Baskerville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font" Target="fonts/LibreFranklin-regular.fntdata"/><Relationship Id="rId10" Type="http://schemas.openxmlformats.org/officeDocument/2006/relationships/font" Target="fonts/LibreFranklin-bold.fntdata"/><Relationship Id="rId11" Type="http://schemas.openxmlformats.org/officeDocument/2006/relationships/font" Target="fonts/LibreFranklin-italic.fntdata"/><Relationship Id="rId12" Type="http://schemas.openxmlformats.org/officeDocument/2006/relationships/font" Target="fonts/LibreFranklin-boldItalic.fntdata"/><Relationship Id="rId13" Type="http://schemas.openxmlformats.org/officeDocument/2006/relationships/font" Target="fonts/LibreBaskerville-regular.fntdata"/><Relationship Id="rId14" Type="http://schemas.openxmlformats.org/officeDocument/2006/relationships/font" Target="fonts/LibreBaskerville-bold.fntdata"/><Relationship Id="rId15" Type="http://schemas.openxmlformats.org/officeDocument/2006/relationships/font" Target="fonts/LibreBaskerville-italic.fntdata"/><Relationship Id="rId16" Type="http://schemas.openxmlformats.org/officeDocument/2006/relationships/font" Target="fonts/LibreBaskerville-boldItalic.fntdata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to our Mini Project Review on MindPulse - a privacy-first behavioral stress detection system. Our system detects workplace stress from typing patterns, mouse movements, and app-switching behavior without ever capturing what the user types, ensuring complete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Workplace stress affects 83% of US workers and costs $300B annually. Current methods are subjective, invasive, or expensive. MindPulse addresses the gap of privacy-preserving behavioral stress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MindPulse detects stress from interaction metadata only. Key innovations: 23 features, dual normalization, 3 novel features not found in existing literature.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six original project objectives have been completed. Privacy system designed, behavioral patterns analyzed, 23 features extracted, XGBoost model trained, real-time monitoring via WebSocket, personal calibration with EMA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phases total. Phases 1-5 complete: research, data collection, model development, app development, evaluation. Phase 6 (real-user deployment) is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components: Desktop App captures events via pynput. ML Engine extracts features and runs XGBoost. FastAPI backend serves predictions. Next.js frontend provides real-time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Privacy is our core design principle. We capture only timing metadata, never actual content. App names are SHA-256 hashed.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23 features across 4 categories. Dual normalization creates 46-dimensional input by concatenating global and per-user z-scores.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XGBoost with 350 estimators, balanced class weights. DualNormalizer creates 46 features. PersonalBaseline uses SQLite with EMA for per-user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Literature review covers 5 key studies. ETH Zurich 2025 found universal models perform poorly (F1=7.8%). VTT Finland showed mouse alone achieves 71%. Pepa et al. demonstrated in-the-wild feasibility (60% F1).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 major components completed since last review. ML core, backend API, frontend dashboard, evaluation pipeline, documentation, and GitHub repository are all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major challenges: feature shape mismatch, import failures, duplicate servers, unrealistic metrics, Unicode errors, path resolution. All successfully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Universal model: 46.8% F1 matching ETH Zurich 2025. Calibrated: 48.7% (+1.9%). MILD class is the bottleneck at F1=0.17.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Overcame 5 major gaps. 5 new gaps identified: real-user data, MILD detection, platform, cold start, concept drift.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new challenges with strategies: real-user deployment, MILD class ordinal regression, Chrome extension, population-to-personal transition, concept drift retraining.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MindPulse demonstrates privacy-first stress detection is feasible. 46.8% F1 universal, 48.7% calibrated. Complete full-stack with honest evaluation. Next: real deployment, browser extension, multi-modal.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914400" y="1447920"/>
            <a:ext cx="374868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914400" y="1447920"/>
            <a:ext cx="374868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914400" y="1447920"/>
            <a:ext cx="374868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914400" y="1447920"/>
            <a:ext cx="374868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91440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283536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91440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283536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idx="1" type="subTitle"/>
          </p:nvPr>
        </p:nvSpPr>
        <p:spPr>
          <a:xfrm>
            <a:off x="914400" y="274680"/>
            <a:ext cx="77720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idx="1" type="subTitle"/>
          </p:nvPr>
        </p:nvSpPr>
        <p:spPr>
          <a:xfrm>
            <a:off x="914400" y="274680"/>
            <a:ext cx="77720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283536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3" type="body"/>
          </p:nvPr>
        </p:nvSpPr>
        <p:spPr>
          <a:xfrm>
            <a:off x="91440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2" type="body"/>
          </p:nvPr>
        </p:nvSpPr>
        <p:spPr>
          <a:xfrm>
            <a:off x="283536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3" type="body"/>
          </p:nvPr>
        </p:nvSpPr>
        <p:spPr>
          <a:xfrm>
            <a:off x="91440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8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91440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3" type="body"/>
          </p:nvPr>
        </p:nvSpPr>
        <p:spPr>
          <a:xfrm>
            <a:off x="283536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91440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3" type="body"/>
          </p:nvPr>
        </p:nvSpPr>
        <p:spPr>
          <a:xfrm>
            <a:off x="283536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9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3" type="body"/>
          </p:nvPr>
        </p:nvSpPr>
        <p:spPr>
          <a:xfrm>
            <a:off x="914400" y="383616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3" type="body"/>
          </p:nvPr>
        </p:nvSpPr>
        <p:spPr>
          <a:xfrm>
            <a:off x="914400" y="383616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0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914400" y="144792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2" type="body"/>
          </p:nvPr>
        </p:nvSpPr>
        <p:spPr>
          <a:xfrm>
            <a:off x="914400" y="383616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" type="body"/>
          </p:nvPr>
        </p:nvSpPr>
        <p:spPr>
          <a:xfrm>
            <a:off x="914400" y="144792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1"/>
          <p:cNvSpPr txBox="1"/>
          <p:nvPr>
            <p:ph idx="2" type="body"/>
          </p:nvPr>
        </p:nvSpPr>
        <p:spPr>
          <a:xfrm>
            <a:off x="914400" y="383616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1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91440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283536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2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3" type="body"/>
          </p:nvPr>
        </p:nvSpPr>
        <p:spPr>
          <a:xfrm>
            <a:off x="91440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2"/>
          <p:cNvSpPr txBox="1"/>
          <p:nvPr>
            <p:ph idx="4" type="body"/>
          </p:nvPr>
        </p:nvSpPr>
        <p:spPr>
          <a:xfrm>
            <a:off x="283536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91440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218196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344916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91440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218196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344916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91440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218196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344916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91440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5" type="body"/>
          </p:nvPr>
        </p:nvSpPr>
        <p:spPr>
          <a:xfrm>
            <a:off x="218196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6" type="body"/>
          </p:nvPr>
        </p:nvSpPr>
        <p:spPr>
          <a:xfrm>
            <a:off x="344916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914400" y="1447920"/>
            <a:ext cx="374868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6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6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6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914400" y="1447920"/>
            <a:ext cx="374868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17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8"/>
          <p:cNvSpPr txBox="1"/>
          <p:nvPr>
            <p:ph idx="1" type="body"/>
          </p:nvPr>
        </p:nvSpPr>
        <p:spPr>
          <a:xfrm>
            <a:off x="91440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8"/>
          <p:cNvSpPr txBox="1"/>
          <p:nvPr>
            <p:ph idx="2" type="body"/>
          </p:nvPr>
        </p:nvSpPr>
        <p:spPr>
          <a:xfrm>
            <a:off x="283536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" name="Google Shape;141;p19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914400" y="274680"/>
            <a:ext cx="7772040" cy="5297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20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0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1"/>
          <p:cNvSpPr txBox="1"/>
          <p:nvPr>
            <p:ph idx="2" type="body"/>
          </p:nvPr>
        </p:nvSpPr>
        <p:spPr>
          <a:xfrm>
            <a:off x="283536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3" type="body"/>
          </p:nvPr>
        </p:nvSpPr>
        <p:spPr>
          <a:xfrm>
            <a:off x="91440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1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914400" y="1447920"/>
            <a:ext cx="182916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22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2"/>
          <p:cNvSpPr txBox="1"/>
          <p:nvPr>
            <p:ph idx="3" type="body"/>
          </p:nvPr>
        </p:nvSpPr>
        <p:spPr>
          <a:xfrm>
            <a:off x="283536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22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2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3"/>
          <p:cNvSpPr txBox="1"/>
          <p:nvPr>
            <p:ph idx="3" type="body"/>
          </p:nvPr>
        </p:nvSpPr>
        <p:spPr>
          <a:xfrm>
            <a:off x="914400" y="383616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3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23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914400" y="144792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24"/>
          <p:cNvSpPr txBox="1"/>
          <p:nvPr>
            <p:ph idx="2" type="body"/>
          </p:nvPr>
        </p:nvSpPr>
        <p:spPr>
          <a:xfrm>
            <a:off x="914400" y="3836160"/>
            <a:ext cx="374868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4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5"/>
          <p:cNvSpPr txBox="1"/>
          <p:nvPr>
            <p:ph idx="1" type="body"/>
          </p:nvPr>
        </p:nvSpPr>
        <p:spPr>
          <a:xfrm>
            <a:off x="91440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5"/>
          <p:cNvSpPr txBox="1"/>
          <p:nvPr>
            <p:ph idx="2" type="body"/>
          </p:nvPr>
        </p:nvSpPr>
        <p:spPr>
          <a:xfrm>
            <a:off x="2835360" y="144792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5"/>
          <p:cNvSpPr txBox="1"/>
          <p:nvPr>
            <p:ph idx="3" type="body"/>
          </p:nvPr>
        </p:nvSpPr>
        <p:spPr>
          <a:xfrm>
            <a:off x="91440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25"/>
          <p:cNvSpPr txBox="1"/>
          <p:nvPr>
            <p:ph idx="4" type="body"/>
          </p:nvPr>
        </p:nvSpPr>
        <p:spPr>
          <a:xfrm>
            <a:off x="2835360" y="3836160"/>
            <a:ext cx="182916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25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6" name="Google Shape;186;p25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91440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26"/>
          <p:cNvSpPr txBox="1"/>
          <p:nvPr>
            <p:ph idx="2" type="body"/>
          </p:nvPr>
        </p:nvSpPr>
        <p:spPr>
          <a:xfrm>
            <a:off x="218196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3" type="body"/>
          </p:nvPr>
        </p:nvSpPr>
        <p:spPr>
          <a:xfrm>
            <a:off x="3449160" y="144792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26"/>
          <p:cNvSpPr txBox="1"/>
          <p:nvPr>
            <p:ph idx="4" type="body"/>
          </p:nvPr>
        </p:nvSpPr>
        <p:spPr>
          <a:xfrm>
            <a:off x="91440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5" type="body"/>
          </p:nvPr>
        </p:nvSpPr>
        <p:spPr>
          <a:xfrm>
            <a:off x="218196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26"/>
          <p:cNvSpPr txBox="1"/>
          <p:nvPr>
            <p:ph idx="6" type="body"/>
          </p:nvPr>
        </p:nvSpPr>
        <p:spPr>
          <a:xfrm>
            <a:off x="3449160" y="3836160"/>
            <a:ext cx="1206720" cy="21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26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" name="Google Shape;197;p26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54964" ty="0" sy="54285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fmla="val 4929" name="adj"/>
            </a:avLst>
          </a:prstGeom>
          <a:blipFill rotWithShape="1">
            <a:blip r:embed="rId1">
              <a:alphaModFix/>
            </a:blip>
            <a:tile algn="tl" flip="none" tx="0" sx="54964" ty="0" sy="54285"/>
          </a:blip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400"/>
              <a:buFont typeface="Libre Baskerville"/>
              <a:buNone/>
              <a:defRPr b="0" i="0" sz="1400" u="none" cap="none" strike="noStrike">
                <a:solidFill>
                  <a:srgbClr val="696464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400"/>
              <a:buFont typeface="Libre Baskerville"/>
              <a:buNone/>
              <a:defRPr b="0" i="0" sz="1400" u="none" cap="none" strike="noStrike">
                <a:solidFill>
                  <a:srgbClr val="696464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6AFA9"/>
          </a:solidFill>
          <a:ln>
            <a:noFill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" name="Google Shape;18;p1"/>
          <p:cNvSpPr txBox="1"/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45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logo.png" id="19" name="Google Shape;1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00280" y="285840"/>
            <a:ext cx="2053440" cy="92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54964" ty="0" sy="54285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5160" y="69840"/>
            <a:ext cx="9012960" cy="6691680"/>
          </a:xfrm>
          <a:prstGeom prst="roundRect">
            <a:avLst>
              <a:gd fmla="val 4929" name="adj"/>
            </a:avLst>
          </a:prstGeom>
          <a:blipFill rotWithShape="1">
            <a:blip r:embed="rId1">
              <a:alphaModFix/>
            </a:blip>
            <a:tile algn="tl" flip="none" tx="0" sx="54964" ty="0" sy="54285"/>
          </a:blip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400"/>
              <a:buFont typeface="Libre Baskerville"/>
              <a:buNone/>
              <a:defRPr b="0" i="0" sz="1400" u="none" cap="none" strike="noStrike">
                <a:solidFill>
                  <a:srgbClr val="696464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400"/>
              <a:buFont typeface="Libre Baskerville"/>
              <a:buNone/>
              <a:defRPr b="0" i="0" sz="1400" u="none" cap="none" strike="noStrike">
                <a:solidFill>
                  <a:srgbClr val="696464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63000" y="1449360"/>
            <a:ext cx="9021240" cy="1527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63000" y="1396800"/>
            <a:ext cx="9021240" cy="120240"/>
          </a:xfrm>
          <a:prstGeom prst="rect">
            <a:avLst/>
          </a:prstGeom>
          <a:solidFill>
            <a:srgbClr val="E6AFA9"/>
          </a:solidFill>
          <a:ln>
            <a:noFill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3000" y="2976480"/>
            <a:ext cx="9021240" cy="11016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8" name="Google Shape;18;p1"/>
          <p:cNvSpPr txBox="1"/>
          <p:nvPr>
            <p:ph type="title"/>
          </p:nvPr>
        </p:nvSpPr>
        <p:spPr>
          <a:xfrm>
            <a:off x="457200" y="1505880"/>
            <a:ext cx="82292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0000" wrap="square" tIns="45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logo.png" id="19" name="Google Shape;1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00280" y="285840"/>
            <a:ext cx="2053440" cy="92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4080" y="69840"/>
            <a:ext cx="9012960" cy="6693120"/>
          </a:xfrm>
          <a:prstGeom prst="roundRect">
            <a:avLst>
              <a:gd fmla="val 4929" name="adj"/>
            </a:avLst>
          </a:prstGeom>
          <a:solidFill>
            <a:srgbClr val="FFFF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38160" rotWithShape="0" algn="t" dir="5400000" dist="25560">
              <a:srgbClr val="000000">
                <a:alpha val="49803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8" name="Google Shape;108;p14"/>
          <p:cNvSpPr txBox="1"/>
          <p:nvPr>
            <p:ph type="title"/>
          </p:nvPr>
        </p:nvSpPr>
        <p:spPr>
          <a:xfrm>
            <a:off x="914400" y="274680"/>
            <a:ext cx="77720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0000" spcFirstLastPara="1" rIns="90000" wrap="square" tIns="450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9" name="Google Shape;109;p14"/>
          <p:cNvSpPr txBox="1"/>
          <p:nvPr>
            <p:ph idx="10" type="dt"/>
          </p:nvPr>
        </p:nvSpPr>
        <p:spPr>
          <a:xfrm>
            <a:off x="6172200" y="6191280"/>
            <a:ext cx="2476080" cy="47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400"/>
              <a:buFont typeface="Libre Baskerville"/>
              <a:buNone/>
              <a:defRPr b="0" i="0" sz="1400" u="none" cap="none" strike="noStrike">
                <a:solidFill>
                  <a:srgbClr val="696464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14"/>
          <p:cNvSpPr txBox="1"/>
          <p:nvPr>
            <p:ph idx="11" type="ftr"/>
          </p:nvPr>
        </p:nvSpPr>
        <p:spPr>
          <a:xfrm>
            <a:off x="914400" y="6172200"/>
            <a:ext cx="39621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6464"/>
              </a:buClr>
              <a:buSzPts val="1400"/>
              <a:buFont typeface="Libre Baskerville"/>
              <a:buNone/>
              <a:defRPr b="0" i="0" sz="1400" u="none" cap="none" strike="noStrike">
                <a:solidFill>
                  <a:srgbClr val="696464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146160" y="6210360"/>
            <a:ext cx="456840" cy="456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buClr>
                <a:srgbClr val="FFFFFF"/>
              </a:buClr>
              <a:buSzPts val="1400"/>
              <a:buFont typeface="Libre Franklin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914400" y="1447920"/>
            <a:ext cx="7772040" cy="457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logo.png" id="113" name="Google Shape;11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400" y="214200"/>
            <a:ext cx="1895400" cy="85716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7680960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2800" b="1">
                <a:solidFill>
                  <a:srgbClr val="277884"/>
                </a:solidFill>
                <a:latin typeface="Arial"/>
              </a:rPr>
              <a:t>MindPulse: Privacy-First Behavioral Stress Detection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7680960" cy="5486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800" b="0">
                <a:solidFill>
                  <a:srgbClr val="2C2C2C"/>
                </a:solidFill>
                <a:latin typeface="Arial"/>
              </a:rPr>
              <a:t>Detecting Stress from HOW You Type, Not WHAT You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17520"/>
            <a:ext cx="7680960" cy="36576"/>
          </a:xfrm>
          <a:prstGeom prst="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7680960" cy="18288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600" b="0">
                <a:solidFill>
                  <a:srgbClr val="2C2C2C"/>
                </a:solidFill>
                <a:latin typeface="Arial"/>
              </a:rPr>
              <a:t>Team Members: Neha (01111502723) | Anand Misra (04011502723) | Pratham Nahar (05311502723)
Mentored by: Dr. Jolly Parikh
Mini Project Review - Academic Year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Introduction /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7884"/>
                </a:solidFill>
                <a:latin typeface="Arial"/>
              </a:rPr>
              <a:t>The Workplace Stress Crisis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83% of US workers experience workplace stress (American Institute of Stress, 2023)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Annual cost to employers: $300 billion in absenteeism, turnover, reduced productivity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277884"/>
                </a:solidFill>
                <a:latin typeface="Arial"/>
              </a:rPr>
              <a:t>Current Detection Methods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Self-report questionnaires - subjective, infrequent, recall bias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Wearable sensors - invasive, expensive, requires specialized hardware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Physiological monitoring - impractical for continuous workplace use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277884"/>
                </a:solidFill>
                <a:latin typeface="Arial"/>
              </a:rPr>
              <a:t>The Research Gap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No existing system detects stress from computer interaction while preserving privacy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Our Solution: MindPulse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277884"/>
                </a:solidFill>
                <a:latin typeface="Arial"/>
              </a:rPr>
              <a:t>Desktop-First Behavioral Stress Analytics System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Arial"/>
              </a:rPr>
              <a:t>Predicts stress levels: NEUTRAL / MILD / STRESSED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Arial"/>
              </a:rPr>
              <a:t>Zero content capture - never records what you type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Arial"/>
              </a:rPr>
              <a:t>On-device processing - all inference happens locally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Arial"/>
              </a:rPr>
              <a:t>Personal adaptation - learns your individual baseline over time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0">
                <a:solidFill>
                  <a:srgbClr val="2C2C2C"/>
                </a:solidFill>
                <a:latin typeface="Arial"/>
              </a:rPr>
              <a:t>Real-time monitoring - WebSocket streaming with 5-minute windows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277884"/>
                </a:solidFill>
                <a:latin typeface="Arial"/>
              </a:rPr>
              <a:t>Core Innovation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23-feature behavioral vector (vs. typical 8-12 in literature)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Dual normalization: global z-score + per-user circadian deviation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3 novel features: session_fragmentation, rage_click_count, switch_entropy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Project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1. Design a privacy-preserving stress detection system - Completed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2. Analyze user behavioral patterns (keyboard, mouse, context switching) - Completed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3. Extract key stress-related features (typing irregularity, error rate, rage clicks) - Completed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4. Develop a hybrid machine learning model for stress classification - Completed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5. Enable real-time, on-device stress monitoring - Completed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2C2C2C"/>
                </a:solidFill>
                <a:latin typeface="Arial"/>
              </a:rPr>
              <a:t>6. Implement personalized calibration with adaptive stress interventions - Completed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Project Roadmap / Stages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097280" cy="64008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Phase 1
Completed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37360" y="146304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2C2C2C"/>
                </a:solidFill>
                <a:latin typeface="Arial"/>
              </a:rPr>
              <a:t>Research &amp;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463040"/>
            <a:ext cx="4572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Literature review, behavioral indicators, feature design, privacy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1097280" cy="64008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Phase 2
Completed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28600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2C2C2C"/>
                </a:solidFill>
                <a:latin typeface="Arial"/>
              </a:rPr>
              <a:t>Data Collection &amp;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286000"/>
            <a:ext cx="4572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pynput collector, 23-feature pipeline, synthetic data, realistic simulator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1097280" cy="64008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Phase 3
Completed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10896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2C2C2C"/>
                </a:solidFill>
                <a:latin typeface="Arial"/>
              </a:rPr>
              <a:t>Model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108960"/>
            <a:ext cx="4572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XGBoost, DualNormalizer, PersonalBaseline, 1D-CNN, Group K-Fold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1097280" cy="64008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Phase 4
Completed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393192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2C2C2C"/>
                </a:solidFill>
                <a:latin typeface="Arial"/>
              </a:rPr>
              <a:t>Application Development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931920"/>
            <a:ext cx="4572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FastAPI backend, Next.js frontend, WebSocket streaming,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1097280" cy="64008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Phase 5
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475488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2C2C2C"/>
                </a:solidFill>
                <a:latin typeface="Arial"/>
              </a:rPr>
              <a:t>Evaluation &amp; Calibration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754880"/>
            <a:ext cx="4572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Leave-One-User-Out, calibration eval, benchmark comparison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77840"/>
            <a:ext cx="1097280" cy="640080"/>
          </a:xfrm>
          <a:prstGeom prst="round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Phase 6
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37360" y="557784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100" b="1">
                <a:solidFill>
                  <a:srgbClr val="2C2C2C"/>
                </a:solidFill>
                <a:latin typeface="Arial"/>
              </a:rPr>
              <a:t>Real-User Deployment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5577840"/>
            <a:ext cx="4572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15-20 real users, per-user calibration testing, browser extension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011680" cy="164592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Desktop App
(Python/pynput)
pynput collector
Keyboard/Mouse/Context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645920"/>
            <a:ext cx="2011680" cy="164592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ML Engine
(XGBoost + CNN)
23-feature extraction
DualNormalizer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2011680" cy="164592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Backend API
(FastAPI)
REST + WebSocket
Port 5000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840480"/>
            <a:ext cx="2011680" cy="1645920"/>
          </a:xfrm>
          <a:prstGeom prst="roundRect">
            <a:avLst/>
          </a:prstGeom>
          <a:solidFill>
            <a:srgbClr val="27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Frontend
(Next.js 15)
RiskMeter gauge
TimelineChart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Data Collection (Privacy-First)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What We Record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2C2C2C"/>
                </a:solidFill>
                <a:latin typeface="Arial"/>
              </a:rPr>
              <a:t>Keyboard: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timestamp_press, timestamp_release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key_category (alpha/digit/special)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2C2C2C"/>
                </a:solidFill>
                <a:latin typeface="Arial"/>
              </a:rPr>
              <a:t>Mouse: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x, y position, timestamp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click_type, scroll_delta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1">
                <a:solidFill>
                  <a:srgbClr val="2C2C2C"/>
                </a:solidFill>
                <a:latin typeface="Arial"/>
              </a:rPr>
              <a:t>Context: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switch_timestamp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app_category_hash (SHA-256)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C3333"/>
                </a:solidFill>
                <a:latin typeface="Arial"/>
              </a:rPr>
              <a:t>What We DON'T Record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Actual key characters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Screen content or URLs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Application names (hashed)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File contents or messages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Privacy Guarantees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Zero content capture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On-device processing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SHA-256 app hashing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Feature Extraction (23 Dimensions)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828800" cy="32004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Keyboard (11)
hold_time_mean/std/median
flight_time_mean/std
typing_speed_wpm
error_rate
pause_frequency/duration
burst_length_mean
rhythm_entropy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17520" y="1463040"/>
            <a:ext cx="1828800" cy="32004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Mouse (6)
mouse_speed_mean/std
direction_change_rate
click_count
rage_click_count
scroll_velocity_std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463040"/>
            <a:ext cx="1828800" cy="32004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Context (3)
tab_switch_freq
switch_entropy
session_fragmentation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463040"/>
            <a:ext cx="1828800" cy="320040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0">
                <a:solidFill>
                  <a:srgbClr val="2C2C2C"/>
                </a:solidFill>
                <a:latin typeface="Arial"/>
              </a:rPr>
              <a:t>Temporal (3)
hour_of_day
day_of_week
session_duration_min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8229600" cy="10972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200" b="0">
                <a:solidFill>
                  <a:srgbClr val="2C2C2C"/>
                </a:solidFill>
                <a:latin typeface="Arial"/>
              </a:rPr>
              <a:t>Dual Normalization: [23 global z-scores] + [23 per-user circadian z-scores] -&gt; 46 features for model 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Machine Learning Model &amp; Calibration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XGBoost Classifier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Objective: multi:softprob (3-class)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Max depth: 6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Estimators: 350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Learning rate: 0.08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Subsample: 0.9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Class weights: Balanced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1D-CNN (Secondary Branch)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Processes raw keystroke sequences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Captures digraph/trigraph patterns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DualNormalizer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Global z-score: (x - mu) / sigma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Per-user circadian: hourly baselines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Output: 46-dimensional feature vector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PersonalBaseline (SQLite + EMA)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Tracks per-user feature means per hour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Exponential Moving Average updates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2C2C2C"/>
                </a:solidFill>
                <a:latin typeface="Arial"/>
              </a:rPr>
              <a:t>Enables calibration: +1.9% F1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Literature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280160"/>
          <a:ext cx="8595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2011680"/>
                <a:gridCol w="1645920"/>
              </a:tblGrid>
              <a:tr h="7315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Year &amp; Citation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Technology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Key Finding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Naegelin et al.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(2025) ETH Zurich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Keyboard+mouse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ML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OSF: qpekf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36 employees, 8wk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Universal models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perform poorly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F1 = 7.8%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VTT Finland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AI mouse movement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Proprietary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workplace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Mouse &gt; heart rate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for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71% accuracy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Pepa et al.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Keystroke dynamics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Zenodo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62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In-the-wild feasible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keyboard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F1 = 60%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CMU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Hold time + latency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CMU InfSci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116 subjects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Fits-and-starts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pattern under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76% accuracy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ETH Zurich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Neuromotor noise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OSF: qpekf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Lab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Typing &gt; heart rate</a:t>
                      </a:r>
                    </a:p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for office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2C2C"/>
                          </a:solidFill>
                          <a:latin typeface="Arial"/>
                        </a:rPr>
                        <a:t>F1 = 62.5%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Progress Since Last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5029200"/>
              </a:tblGrid>
              <a:tr h="5878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>
                    <a:solidFill>
                      <a:srgbClr val="27788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ML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4 Python modules: data_collector, feature_extractor, model, synthetic_data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Backend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FastAPI with 7 REST endpoints + WebSocket streaming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Frontend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Next.js 15 with 6 pages, 7 components, real-time WebSocket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Evaluation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Group K-Fold, calibration eval, realistic simulator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Research report, ML pipeline design, results summary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GitHub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2C2C"/>
                          </a:solidFill>
                          <a:latin typeface="Arial"/>
                        </a:rPr>
                        <a:t>53 files, clean structure at iAMv1/mindpulse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Challenges Faced &amp; Overcome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Feature Shape Mismatch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371600"/>
            <a:ext cx="30175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CC3333"/>
                </a:solidFill>
                <a:latin typeface="Arial"/>
              </a:rPr>
              <a:t>Model expected 46, inference passed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25603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77884"/>
                </a:solidFill>
                <a:latin typeface="Arial"/>
              </a:rPr>
              <a:t>Implemented DualNormalizer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Import Failures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148840"/>
            <a:ext cx="30175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CC3333"/>
                </a:solidFill>
                <a:latin typeface="Arial"/>
              </a:rPr>
              <a:t>Relative imports broke in __main__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148840"/>
            <a:ext cx="25603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77884"/>
                </a:solidFill>
                <a:latin typeface="Arial"/>
              </a:rPr>
              <a:t>Converted to relative imports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Duplicate Servers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926080"/>
            <a:ext cx="30175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CC3333"/>
                </a:solidFill>
                <a:latin typeface="Arial"/>
              </a:rPr>
              <a:t>Two separate FastAPI implementations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926080"/>
            <a:ext cx="25603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77884"/>
                </a:solidFill>
                <a:latin typeface="Arial"/>
              </a:rPr>
              <a:t>Consolidated into single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Unrealistic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703320"/>
            <a:ext cx="30175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CC3333"/>
                </a:solidFill>
                <a:latin typeface="Arial"/>
              </a:rPr>
              <a:t>99%+ F1 from separable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25603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77884"/>
                </a:solidFill>
                <a:latin typeface="Arial"/>
              </a:rPr>
              <a:t>Created overlap simulator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Unicode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480560"/>
            <a:ext cx="30175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CC3333"/>
                </a:solidFill>
                <a:latin typeface="Arial"/>
              </a:rPr>
              <a:t>Box-drawing chars caused codec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480560"/>
            <a:ext cx="25603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77884"/>
                </a:solidFill>
                <a:latin typeface="Arial"/>
              </a:rPr>
              <a:t>Replaced with ASCII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57800"/>
            <a:ext cx="228600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C2C2C"/>
                </a:solidFill>
                <a:latin typeface="Arial"/>
              </a:rPr>
              <a:t>Path Resolution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0" y="5257800"/>
            <a:ext cx="30175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CC3333"/>
                </a:solidFill>
                <a:latin typeface="Arial"/>
              </a:rPr>
              <a:t>Artifacts pointed to wrong directory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5257800"/>
            <a:ext cx="2560320" cy="64008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77884"/>
                </a:solidFill>
                <a:latin typeface="Arial"/>
              </a:rPr>
              <a:t>Module-relative paths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Performance Comparison &amp;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Evaluation Results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C2C2C"/>
                </a:solidFill>
                <a:latin typeface="Arial"/>
              </a:rPr>
              <a:t>Evaluation          F1-Macro   Accuracy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Universal (no cal)   46.8%      48.0%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Calibrated (40)      48.7%      50.0%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77884"/>
                </a:solidFill>
                <a:latin typeface="Arial"/>
              </a:rPr>
              <a:t>Improvement          +1.9%      +2.0%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1">
                <a:solidFill>
                  <a:srgbClr val="277884"/>
                </a:solidFill>
                <a:latin typeface="Arial"/>
              </a:rPr>
              <a:t>Per-Class Performance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NEUTRAL  - Precision: 0.54  Recall: 0.71  F1: 0.62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MILD     - Precision: 0.31  Recall: 0.11  F1: 0.17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STRESSED - Precision: 0.28  Recall: 0.33  F1: 0.30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Research Benchmark Comparison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4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1">
                <a:solidFill>
                  <a:srgbClr val="2C2C2C"/>
                </a:solidFill>
                <a:latin typeface="Arial"/>
              </a:rPr>
              <a:t>Study                     F1-Macro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ETH Zurich 2025 (Univ.)    7.8%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77884"/>
                </a:solidFill>
                <a:latin typeface="Arial"/>
              </a:rPr>
              <a:t>MindPulse (Universal)     46.8%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77884"/>
                </a:solidFill>
                <a:latin typeface="Arial"/>
              </a:rPr>
              <a:t>MindPulse (Calibrated)    48.7%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ETH Zurich 2023 (Lab)     62.5%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000" b="0">
                <a:solidFill>
                  <a:srgbClr val="2C2C2C"/>
                </a:solidFill>
                <a:latin typeface="Arial"/>
              </a:rPr>
              <a:t>Pepa et al. 2021          60.0%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>
                <a:solidFill>
                  <a:srgbClr val="CC3333"/>
                </a:solidFill>
                <a:latin typeface="Arial"/>
              </a:rPr>
              <a:t>MILD class is bottleneck (F1=0.17)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Research Gaps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Gaps We Overcame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Limited feature sets (8-12) -&gt; 23 features with 3 novel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No personal calibration -&gt; DualNormalizer + EMA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Privacy concerns -&gt; Zero content capture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Simplified evaluation -&gt; Group K-Fold honest validation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No self-report noise modeling -&gt; 76.8% accuracy sim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CC3333"/>
                </a:solidFill>
                <a:latin typeface="Arial"/>
              </a:rPr>
              <a:t>New Research Gaps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No real-user data (all simulated)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MILD class detection weak (F1=0.17)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Desktop-only (pynput dependency)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Calibration cold start problem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  Long-term concept drift untested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New Challenges &amp; Tackling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1828800" cy="73152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Real-User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201168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All eval on simulated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27432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Deploy 15-20 volunteers, 2-4 weeks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371600"/>
            <a:ext cx="13716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77884"/>
                </a:solidFill>
                <a:latin typeface="Arial"/>
              </a:rPr>
              <a:t>2-3 months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286000"/>
            <a:ext cx="1828800" cy="73152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MILD Class F1=0.17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86000"/>
            <a:ext cx="201168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Overlaps with NEUTRAL/STRESSED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86000"/>
            <a:ext cx="27432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Ordinal regression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286000"/>
            <a:ext cx="13716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77884"/>
                </a:solidFill>
                <a:latin typeface="Arial"/>
              </a:rPr>
              <a:t>1 month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200400"/>
            <a:ext cx="1828800" cy="73152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Cross-Platform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200400"/>
            <a:ext cx="201168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Desktop-only (pynput)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200400"/>
            <a:ext cx="27432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Chrome extension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3200400"/>
            <a:ext cx="13716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77884"/>
                </a:solidFill>
                <a:latin typeface="Arial"/>
              </a:rPr>
              <a:t>2 months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114800"/>
            <a:ext cx="1828800" cy="73152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Cold Start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114800"/>
            <a:ext cx="201168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New users have no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114800"/>
            <a:ext cx="27432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Population -&gt; personal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4114800"/>
            <a:ext cx="13716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77884"/>
                </a:solidFill>
                <a:latin typeface="Arial"/>
              </a:rPr>
              <a:t>Implemented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029200"/>
            <a:ext cx="1828800" cy="73152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Concept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029200"/>
            <a:ext cx="201168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Behavior changes over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5029200"/>
            <a:ext cx="27432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900" b="0">
                <a:solidFill>
                  <a:srgbClr val="2C2C2C"/>
                </a:solidFill>
                <a:latin typeface="Arial"/>
              </a:rPr>
              <a:t>SPC + retraining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5029200"/>
            <a:ext cx="1371600" cy="73152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/>
            <a:r>
              <a:rPr sz="1000" b="1">
                <a:solidFill>
                  <a:srgbClr val="277884"/>
                </a:solidFill>
                <a:latin typeface="Arial"/>
              </a:rPr>
              <a:t>3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277884"/>
                </a:solidFill>
                <a:latin typeface="Arial"/>
              </a:rPr>
              <a:t>Conclusion &amp; 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Key Takeaways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Privacy-first stress detection is feasible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46.8% F1 universal, 48.7% calibrated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23 features with 3 novel ones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Complete full-stack implementation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Honest evaluation (Group K-Fold)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600" b="0">
                <a:solidFill>
                  <a:srgbClr val="2C2C2C"/>
                </a:solidFill>
                <a:latin typeface="Arial"/>
              </a:rPr>
              <a:t/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400" b="1">
                <a:solidFill>
                  <a:srgbClr val="277884"/>
                </a:solidFill>
                <a:latin typeface="Arial"/>
              </a:rPr>
              <a:t>Next Steps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Real-user deployment (15-20 users)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Browser extension development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2C2C2C"/>
                </a:solidFill>
                <a:latin typeface="Arial"/>
              </a:rPr>
              <a:t>Multi-modal fusion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77884"/>
                </a:solidFill>
                <a:latin typeface="Arial"/>
              </a:rPr>
              <a:t>References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[1] Naegelin et al. (2025) ETH Zurich - osf.io/qpekf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[2] VTT Finland (2024) AI mouse movement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[3] Pepa et al. (2021) Keystroke - Zenodo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[4] CMU (2023) Keystroke stress - CMU InfSci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[5] ETH Zurich (2023) Neuromotor - OSF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[6] XGBoost - github.com/dmlc/xgboost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[7] FastAPI - github.com/tiangolo/fastapi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[8] Next.js - github.com/vercel/next.js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[9] pynput - pypi.org/project/pynput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[10] scikit-learn - github.com/scikit-learn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00" b="0">
                <a:solidFill>
                  <a:srgbClr val="2C2C2C"/>
                </a:solidFill>
                <a:latin typeface="Arial"/>
              </a:rPr>
              <a:t>[11] Amer. Inst. Stress (2023) - stress.org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Equity">
  <a:themeElements>
    <a:clrScheme name="Equity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