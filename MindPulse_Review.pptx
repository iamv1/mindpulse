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  <p:sldMasterId id="2147483673" r:id="rId5"/>
  </p:sldMasterIdLst>
  <p:notesMasterIdLst>
    <p:notesMasterId r:id="rId6"/>
  </p:notesMasterIdLst>
  <p:sldIdLst>
    <p:sldId id="256" r:id="rId8"/>
    <p:sldId id="257" r:id="rId7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</p:sldIdLst>
  <p:sldSz cy="6858000" cx="9144000"/>
  <p:notesSz cx="6858000" cy="9144000"/>
  <p:embeddedFontLst>
    <p:embeddedFont>
      <p:font typeface="Libre Franklin"/>
      <p:regular r:id="rId9"/>
      <p:bold r:id="rId10"/>
      <p:italic r:id="rId11"/>
      <p:boldItalic r:id="rId12"/>
    </p:embeddedFont>
    <p:embeddedFont>
      <p:font typeface="Libre Baskerville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font" Target="fonts/LibreFranklin-regular.fntdata"/><Relationship Id="rId10" Type="http://schemas.openxmlformats.org/officeDocument/2006/relationships/font" Target="fonts/LibreFranklin-bold.fntdata"/><Relationship Id="rId11" Type="http://schemas.openxmlformats.org/officeDocument/2006/relationships/font" Target="fonts/LibreFranklin-italic.fntdata"/><Relationship Id="rId12" Type="http://schemas.openxmlformats.org/officeDocument/2006/relationships/font" Target="fonts/LibreFranklin-boldItalic.fntdata"/><Relationship Id="rId13" Type="http://schemas.openxmlformats.org/officeDocument/2006/relationships/font" Target="fonts/LibreBaskerville-regular.fntdata"/><Relationship Id="rId14" Type="http://schemas.openxmlformats.org/officeDocument/2006/relationships/font" Target="fonts/LibreBaskerville-bold.fntdata"/><Relationship Id="rId15" Type="http://schemas.openxmlformats.org/officeDocument/2006/relationships/font" Target="fonts/LibreBaskerville-italic.fntdata"/><Relationship Id="rId16" Type="http://schemas.openxmlformats.org/officeDocument/2006/relationships/font" Target="fonts/LibreBaskerville-boldItalic.fntdata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533520" y="764280"/>
            <a:ext cx="6704640" cy="37713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to our Mini Project Review on MindPulse. Our system detects workplace stress from typing patterns, mouse movements, and app-switching behavior without ever capturing what the user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Workplace stress is a $300B problem. Current detection methods fail: self-reports are subjective, wearables are invasive. MindPulse addresses the gap by detecting stress from behavioral metadata while guaranteeing privacy.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MindPulse has six key capabilities: 3-class stress prediction, zero content capture, on-device processing, personal adaptation, real-time monitoring, and a 23-feature behavioral vector with 3 novel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six original objectives completed. Privacy designed, behavioral patterns analyzed, 23 features extracted, XGBoost model trained, real-time monitoring via WebSocket, personal calibration with 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phases. Phases 1-5 complete. Phase 6 (real-user deployment) is next: 15-20 volunteers for 2-4 weeks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components: Desktop App captures events, ML Engine extracts features and runs XGBoost, FastAPI backend serves predictions, Next.js frontend provides real-time visualization.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Privacy is our core design. We capture only timing metadata. App names are SHA-256 hashed. Zero content capture ensures complete privacy.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23 features across 4 categories. Dual normalization creates 46-dimensional input by concatenating global and per-user z-scores.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XGBoost with 350 estimators. DualNormalizer creates 46 features. PersonalBaseline uses SQLite with EMA for per-user calibration (+1.9% F1).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Literature review: ETH Zurich 2025 found universal models perform poorly. VTT Finland showed mouse alone achieves 71%. Pepa et al. demonstrated in-the-wild feasibility with 60%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components completed since last review: ML core, backend API, frontend dashboard, evaluation pipeline, documentation, and GitHub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major challenges: feature shape mismatch, import failures, duplicate servers, unrealistic metrics, Unicode errors, path resolution. All successfully resolved.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Universal model: 46.8% F1 matching ETH Zurich 2025. Calibrated: 48.7% (+1.9%). MILD class is bottleneck at F1=0.17.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Overcame 6 gaps: limited features, no calibration, privacy, evaluation, noise modeling, real-time. 5 new gaps: real-user data, MILD class, platform, cold start,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challenges with strategies: real-user deployment, MILD ordinal regression, Chrome extension, population-to-personal, concept drift retraining.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MindPulse demonstrates privacy-first stress detection is feasible. 46.8% F1 universal, 48.7% calibrated. Complete full-stack with honest evaluation. Next: real deployment, browser extension, multi-modal.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"/>
          <p:cNvSpPr txBox="1"/>
          <p:nvPr>
            <p:ph idx="1" type="subTitle"/>
          </p:nvPr>
        </p:nvSpPr>
        <p:spPr>
          <a:xfrm>
            <a:off x="914400" y="1447920"/>
            <a:ext cx="374868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2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" type="body"/>
          </p:nvPr>
        </p:nvSpPr>
        <p:spPr>
          <a:xfrm>
            <a:off x="914400" y="1447920"/>
            <a:ext cx="374868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" name="Google Shape;36;p4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91440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2" type="body"/>
          </p:nvPr>
        </p:nvSpPr>
        <p:spPr>
          <a:xfrm>
            <a:off x="283536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" name="Google Shape;43;p5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idx="1" type="subTitle"/>
          </p:nvPr>
        </p:nvSpPr>
        <p:spPr>
          <a:xfrm>
            <a:off x="914400" y="274680"/>
            <a:ext cx="7772040" cy="5297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" type="body"/>
          </p:nvPr>
        </p:nvSpPr>
        <p:spPr>
          <a:xfrm>
            <a:off x="91440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2" type="body"/>
          </p:nvPr>
        </p:nvSpPr>
        <p:spPr>
          <a:xfrm>
            <a:off x="283536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3" type="body"/>
          </p:nvPr>
        </p:nvSpPr>
        <p:spPr>
          <a:xfrm>
            <a:off x="91440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1" name="Google Shape;61;p8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" type="body"/>
          </p:nvPr>
        </p:nvSpPr>
        <p:spPr>
          <a:xfrm>
            <a:off x="91440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2" type="body"/>
          </p:nvPr>
        </p:nvSpPr>
        <p:spPr>
          <a:xfrm>
            <a:off x="283536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3" type="body"/>
          </p:nvPr>
        </p:nvSpPr>
        <p:spPr>
          <a:xfrm>
            <a:off x="283536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9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9" name="Google Shape;69;p9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91440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283536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3" type="body"/>
          </p:nvPr>
        </p:nvSpPr>
        <p:spPr>
          <a:xfrm>
            <a:off x="914400" y="3836160"/>
            <a:ext cx="374868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914400" y="1447920"/>
            <a:ext cx="374868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2" type="body"/>
          </p:nvPr>
        </p:nvSpPr>
        <p:spPr>
          <a:xfrm>
            <a:off x="914400" y="3836160"/>
            <a:ext cx="374868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4" name="Google Shape;84;p11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>
            <a:off x="91440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2" type="body"/>
          </p:nvPr>
        </p:nvSpPr>
        <p:spPr>
          <a:xfrm>
            <a:off x="283536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3" type="body"/>
          </p:nvPr>
        </p:nvSpPr>
        <p:spPr>
          <a:xfrm>
            <a:off x="91440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4" type="body"/>
          </p:nvPr>
        </p:nvSpPr>
        <p:spPr>
          <a:xfrm>
            <a:off x="283536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2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3" name="Google Shape;93;p12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" type="body"/>
          </p:nvPr>
        </p:nvSpPr>
        <p:spPr>
          <a:xfrm>
            <a:off x="914400" y="144792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13"/>
          <p:cNvSpPr txBox="1"/>
          <p:nvPr>
            <p:ph idx="2" type="body"/>
          </p:nvPr>
        </p:nvSpPr>
        <p:spPr>
          <a:xfrm>
            <a:off x="2181960" y="144792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3"/>
          <p:cNvSpPr txBox="1"/>
          <p:nvPr>
            <p:ph idx="3" type="body"/>
          </p:nvPr>
        </p:nvSpPr>
        <p:spPr>
          <a:xfrm>
            <a:off x="3449160" y="144792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3"/>
          <p:cNvSpPr txBox="1"/>
          <p:nvPr>
            <p:ph idx="4" type="body"/>
          </p:nvPr>
        </p:nvSpPr>
        <p:spPr>
          <a:xfrm>
            <a:off x="914400" y="383616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3"/>
          <p:cNvSpPr txBox="1"/>
          <p:nvPr>
            <p:ph idx="5" type="body"/>
          </p:nvPr>
        </p:nvSpPr>
        <p:spPr>
          <a:xfrm>
            <a:off x="2181960" y="383616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13"/>
          <p:cNvSpPr txBox="1"/>
          <p:nvPr>
            <p:ph idx="6" type="body"/>
          </p:nvPr>
        </p:nvSpPr>
        <p:spPr>
          <a:xfrm>
            <a:off x="3449160" y="383616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13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13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4" name="Google Shape;104;p13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5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7" name="Google Shape;117;p15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6"/>
          <p:cNvSpPr txBox="1"/>
          <p:nvPr>
            <p:ph idx="1" type="subTitle"/>
          </p:nvPr>
        </p:nvSpPr>
        <p:spPr>
          <a:xfrm>
            <a:off x="914400" y="1447920"/>
            <a:ext cx="374868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1" name="Google Shape;121;p16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6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3" name="Google Shape;123;p16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idx="1" type="body"/>
          </p:nvPr>
        </p:nvSpPr>
        <p:spPr>
          <a:xfrm>
            <a:off x="914400" y="1447920"/>
            <a:ext cx="374868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9" name="Google Shape;129;p17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1" type="body"/>
          </p:nvPr>
        </p:nvSpPr>
        <p:spPr>
          <a:xfrm>
            <a:off x="91440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2" type="body"/>
          </p:nvPr>
        </p:nvSpPr>
        <p:spPr>
          <a:xfrm>
            <a:off x="283536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p18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9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p19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0"/>
          <p:cNvSpPr txBox="1"/>
          <p:nvPr>
            <p:ph idx="1" type="subTitle"/>
          </p:nvPr>
        </p:nvSpPr>
        <p:spPr>
          <a:xfrm>
            <a:off x="914400" y="274680"/>
            <a:ext cx="7772040" cy="5297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0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0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6" name="Google Shape;146;p20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1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1"/>
          <p:cNvSpPr txBox="1"/>
          <p:nvPr>
            <p:ph idx="1" type="body"/>
          </p:nvPr>
        </p:nvSpPr>
        <p:spPr>
          <a:xfrm>
            <a:off x="91440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21"/>
          <p:cNvSpPr txBox="1"/>
          <p:nvPr>
            <p:ph idx="2" type="body"/>
          </p:nvPr>
        </p:nvSpPr>
        <p:spPr>
          <a:xfrm>
            <a:off x="283536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21"/>
          <p:cNvSpPr txBox="1"/>
          <p:nvPr>
            <p:ph idx="3" type="body"/>
          </p:nvPr>
        </p:nvSpPr>
        <p:spPr>
          <a:xfrm>
            <a:off x="91440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4" name="Google Shape;154;p21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22"/>
          <p:cNvSpPr txBox="1"/>
          <p:nvPr>
            <p:ph idx="1" type="body"/>
          </p:nvPr>
        </p:nvSpPr>
        <p:spPr>
          <a:xfrm>
            <a:off x="914400" y="1447920"/>
            <a:ext cx="182916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22"/>
          <p:cNvSpPr txBox="1"/>
          <p:nvPr>
            <p:ph idx="2" type="body"/>
          </p:nvPr>
        </p:nvSpPr>
        <p:spPr>
          <a:xfrm>
            <a:off x="283536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3" type="body"/>
          </p:nvPr>
        </p:nvSpPr>
        <p:spPr>
          <a:xfrm>
            <a:off x="283536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22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22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23"/>
          <p:cNvSpPr txBox="1"/>
          <p:nvPr>
            <p:ph idx="1" type="body"/>
          </p:nvPr>
        </p:nvSpPr>
        <p:spPr>
          <a:xfrm>
            <a:off x="91440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2" type="body"/>
          </p:nvPr>
        </p:nvSpPr>
        <p:spPr>
          <a:xfrm>
            <a:off x="283536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3" type="body"/>
          </p:nvPr>
        </p:nvSpPr>
        <p:spPr>
          <a:xfrm>
            <a:off x="914400" y="3836160"/>
            <a:ext cx="374868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3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3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0" name="Google Shape;170;p23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4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" type="body"/>
          </p:nvPr>
        </p:nvSpPr>
        <p:spPr>
          <a:xfrm>
            <a:off x="914400" y="1447920"/>
            <a:ext cx="374868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24"/>
          <p:cNvSpPr txBox="1"/>
          <p:nvPr>
            <p:ph idx="2" type="body"/>
          </p:nvPr>
        </p:nvSpPr>
        <p:spPr>
          <a:xfrm>
            <a:off x="914400" y="3836160"/>
            <a:ext cx="374868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24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4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7" name="Google Shape;177;p24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91440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5"/>
          <p:cNvSpPr txBox="1"/>
          <p:nvPr>
            <p:ph idx="2" type="body"/>
          </p:nvPr>
        </p:nvSpPr>
        <p:spPr>
          <a:xfrm>
            <a:off x="2835360" y="144792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2" name="Google Shape;182;p25"/>
          <p:cNvSpPr txBox="1"/>
          <p:nvPr>
            <p:ph idx="3" type="body"/>
          </p:nvPr>
        </p:nvSpPr>
        <p:spPr>
          <a:xfrm>
            <a:off x="91440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3" name="Google Shape;183;p25"/>
          <p:cNvSpPr txBox="1"/>
          <p:nvPr>
            <p:ph idx="4" type="body"/>
          </p:nvPr>
        </p:nvSpPr>
        <p:spPr>
          <a:xfrm>
            <a:off x="2835360" y="3836160"/>
            <a:ext cx="182916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25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p25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6" name="Google Shape;186;p25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6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6"/>
          <p:cNvSpPr txBox="1"/>
          <p:nvPr>
            <p:ph idx="1" type="body"/>
          </p:nvPr>
        </p:nvSpPr>
        <p:spPr>
          <a:xfrm>
            <a:off x="914400" y="144792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p26"/>
          <p:cNvSpPr txBox="1"/>
          <p:nvPr>
            <p:ph idx="2" type="body"/>
          </p:nvPr>
        </p:nvSpPr>
        <p:spPr>
          <a:xfrm>
            <a:off x="2181960" y="144792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1" name="Google Shape;191;p26"/>
          <p:cNvSpPr txBox="1"/>
          <p:nvPr>
            <p:ph idx="3" type="body"/>
          </p:nvPr>
        </p:nvSpPr>
        <p:spPr>
          <a:xfrm>
            <a:off x="3449160" y="144792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2" name="Google Shape;192;p26"/>
          <p:cNvSpPr txBox="1"/>
          <p:nvPr>
            <p:ph idx="4" type="body"/>
          </p:nvPr>
        </p:nvSpPr>
        <p:spPr>
          <a:xfrm>
            <a:off x="914400" y="383616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3" name="Google Shape;193;p26"/>
          <p:cNvSpPr txBox="1"/>
          <p:nvPr>
            <p:ph idx="5" type="body"/>
          </p:nvPr>
        </p:nvSpPr>
        <p:spPr>
          <a:xfrm>
            <a:off x="2181960" y="383616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4" name="Google Shape;194;p26"/>
          <p:cNvSpPr txBox="1"/>
          <p:nvPr>
            <p:ph idx="6" type="body"/>
          </p:nvPr>
        </p:nvSpPr>
        <p:spPr>
          <a:xfrm>
            <a:off x="3449160" y="3836160"/>
            <a:ext cx="1206720" cy="218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26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26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26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rotWithShape="1">
          <a:blip r:embed="rId1">
            <a:alphaModFix/>
          </a:blip>
          <a:tile algn="tl" flip="none" tx="0" sx="54964" ty="0" sy="54285"/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fmla="val 4929" name="adj"/>
            </a:avLst>
          </a:prstGeom>
          <a:blipFill rotWithShape="1">
            <a:blip r:embed="rId1">
              <a:alphaModFix/>
            </a:blip>
            <a:tile algn="tl" flip="none" tx="0" sx="54964" ty="0" sy="54285"/>
          </a:blipFill>
          <a:ln cap="sq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60" rotWithShape="0" algn="t" dir="5400000" dist="25560">
              <a:srgbClr val="000000">
                <a:alpha val="49803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400"/>
              <a:buFont typeface="Libre Baskerville"/>
              <a:buNone/>
              <a:defRPr b="0" i="0" sz="1400" u="none" cap="none" strike="noStrike">
                <a:solidFill>
                  <a:srgbClr val="696464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400"/>
              <a:buFont typeface="Libre Baskerville"/>
              <a:buNone/>
              <a:defRPr b="0" i="0" sz="1400" u="none" cap="none" strike="noStrike">
                <a:solidFill>
                  <a:srgbClr val="696464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rotWithShape="0" algn="t" dir="5400000" dist="25560">
              <a:srgbClr val="000000">
                <a:alpha val="49803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6AFA9"/>
          </a:solidFill>
          <a:ln>
            <a:noFill/>
          </a:ln>
          <a:effectLst>
            <a:outerShdw blurRad="38160" rotWithShape="0" algn="t" dir="5400000" dist="25560">
              <a:srgbClr val="000000">
                <a:alpha val="49803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38160" rotWithShape="0" algn="t" dir="5400000" dist="25560">
              <a:srgbClr val="000000">
                <a:alpha val="49803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8" name="Google Shape;18;p1"/>
          <p:cNvSpPr txBox="1"/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0000" spcFirstLastPara="1" rIns="90000" wrap="square" tIns="45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pic>
        <p:nvPicPr>
          <p:cNvPr descr="logo.png" id="19" name="Google Shape;19;p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00280" y="285840"/>
            <a:ext cx="2053440" cy="92844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1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fmla="val 4929" name="adj"/>
            </a:avLst>
          </a:prstGeom>
          <a:solidFill>
            <a:srgbClr val="FFFFFF"/>
          </a:solidFill>
          <a:ln cap="sq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60" rotWithShape="0" algn="t" dir="5400000" dist="25560">
              <a:srgbClr val="000000">
                <a:alpha val="49803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08" name="Google Shape;108;p14"/>
          <p:cNvSpPr txBox="1"/>
          <p:nvPr>
            <p:ph type="title"/>
          </p:nvPr>
        </p:nvSpPr>
        <p:spPr>
          <a:xfrm>
            <a:off x="914400" y="274680"/>
            <a:ext cx="77720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0000" spcFirstLastPara="1" rIns="90000" wrap="square" tIns="450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9" name="Google Shape;109;p14"/>
          <p:cNvSpPr txBox="1"/>
          <p:nvPr>
            <p:ph idx="10" type="dt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400"/>
              <a:buFont typeface="Libre Baskerville"/>
              <a:buNone/>
              <a:defRPr b="0" i="0" sz="1400" u="none" cap="none" strike="noStrike">
                <a:solidFill>
                  <a:srgbClr val="696464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14"/>
          <p:cNvSpPr txBox="1"/>
          <p:nvPr>
            <p:ph idx="11" type="ftr"/>
          </p:nvPr>
        </p:nvSpPr>
        <p:spPr>
          <a:xfrm>
            <a:off x="914400" y="6172200"/>
            <a:ext cx="3962160" cy="45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96464"/>
              </a:buClr>
              <a:buSzPts val="1400"/>
              <a:buFont typeface="Libre Baskerville"/>
              <a:buNone/>
              <a:defRPr b="0" i="0" sz="1400" u="none" cap="none" strike="noStrike">
                <a:solidFill>
                  <a:srgbClr val="696464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1" name="Google Shape;111;p14"/>
          <p:cNvSpPr txBox="1"/>
          <p:nvPr>
            <p:ph idx="12" type="sldNum"/>
          </p:nvPr>
        </p:nvSpPr>
        <p:spPr>
          <a:xfrm>
            <a:off x="146160" y="6210360"/>
            <a:ext cx="456840" cy="4568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ts val="1400"/>
              <a:buFont typeface="Libre Franklin"/>
              <a:buNone/>
              <a:defRPr b="0" i="0" sz="1400" u="none" cap="none" strike="noStrik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p14"/>
          <p:cNvSpPr txBox="1"/>
          <p:nvPr>
            <p:ph idx="1" type="body"/>
          </p:nvPr>
        </p:nvSpPr>
        <p:spPr>
          <a:xfrm>
            <a:off x="914400" y="1447920"/>
            <a:ext cx="777204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logo.png" id="113" name="Google Shape;113;p1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4400" y="214200"/>
            <a:ext cx="1895400" cy="85716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7680960" cy="54864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MindPulse</a:t>
            </a:r>
          </a:p>
          <a:p>
            <a:pPr>
              <a:spcAft>
                <a:spcPts val="200"/>
              </a:spcAft>
            </a:pPr>
            <a:r>
              <a:rPr sz="2000" b="0">
                <a:solidFill>
                  <a:srgbClr val="AADDEE"/>
                </a:solidFill>
                <a:latin typeface="Arial"/>
              </a:rPr>
              <a:t>Privacy-First Behavioral Stress Detection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88BBCC"/>
                </a:solidFill>
                <a:latin typeface="Arial"/>
              </a:rPr>
              <a:t>Detecting Stress from "HOW You Type", Not "WHAT You Type"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749039"/>
            <a:ext cx="18288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7680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277884"/>
                </a:solidFill>
                <a:latin typeface="Arial"/>
              </a:rPr>
              <a:t>Team Members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Neha (01111502723)  |  Anand Misra (04011502723)  |  Pratham Nahar (05311502723)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2C2C2C"/>
                </a:solidFill>
                <a:latin typeface="Arial"/>
              </a:rPr>
              <a:t>Mentored by: Dr. Jolly Parikh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Mini Project Review — Academic Year 2024-25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Introduction /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The Crisis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83% of US workers experience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C3333"/>
                </a:solidFill>
                <a:latin typeface="Arial"/>
              </a:rPr>
              <a:t>workplace stress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$300 billion annual cost to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CC3333"/>
                </a:solidFill>
                <a:latin typeface="Arial"/>
              </a:rPr>
              <a:t>employers (AIS,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188720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Current Methods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Self-reports: subjective,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infrequent, recall bias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Wearables: invasive,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expensive hardware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Physiological: impractical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for continuous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188720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Research Gap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No existing system detects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stress from computer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interaction while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277884"/>
                </a:solidFill>
                <a:latin typeface="Arial"/>
              </a:rPr>
              <a:t>preserving privacy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40480"/>
            <a:ext cx="82296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277884"/>
                </a:solidFill>
                <a:latin typeface="Arial"/>
              </a:rPr>
              <a:t>Our Key Insight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2C2C2C"/>
                </a:solidFill>
                <a:latin typeface="Arial"/>
              </a:rPr>
              <a:t>MindPulse captures "HOW you interact" — not "WHAT you type"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2C2C2C"/>
                </a:solidFill>
                <a:latin typeface="Arial"/>
              </a:rPr>
              <a:t>We analyze behavioral metadata only: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Keyboard: timing patterns, hold/flight times, rhythm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Mouse: movement speed, click patterns, scroll behavior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Context: app-switch frequency, session fragmentation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Our Solution: MindPulse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3-Class Prediction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NEUTRAL / MILD / STRESSED
stress level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188720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Zero Content Capture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Never records typed characters
only metadata and timing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188720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On-Device Processing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All inference happens locally
no data leaves your machine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39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Personal Adaptation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Learns individual baseline
via EMA + SQLite calibration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3749039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Real-Time Monitoring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WebSocket streaming with
5-minute rolling windows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49039"/>
            <a:ext cx="26517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23 Feature Vector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Most papers use 8-12; we use 23
including 3 novel features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Project 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5943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2C2C2C"/>
                </a:solidFill>
                <a:latin typeface="Arial"/>
              </a:rPr>
              <a:t>Design a privacy-preserving stress detection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234440"/>
            <a:ext cx="1463040" cy="36576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Completed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03120"/>
            <a:ext cx="457200" cy="457200"/>
          </a:xfrm>
          <a:prstGeom prst="ellipse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5943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2C2C2C"/>
                </a:solidFill>
                <a:latin typeface="Arial"/>
              </a:rPr>
              <a:t>Analyze user behavioral patterns (keyboard, mouse, context switching)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103120"/>
            <a:ext cx="1463040" cy="36576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Completed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80"/>
            <a:ext cx="5943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2C2C2C"/>
                </a:solidFill>
                <a:latin typeface="Arial"/>
              </a:rPr>
              <a:t>Extract key stress-related features (typing irregularity, error rate, rage clicks)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2971800"/>
            <a:ext cx="1463040" cy="36576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Completed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79"/>
            <a:ext cx="457200" cy="457200"/>
          </a:xfrm>
          <a:prstGeom prst="ellipse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94759"/>
            <a:ext cx="5943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2C2C2C"/>
                </a:solidFill>
                <a:latin typeface="Arial"/>
              </a:rPr>
              <a:t>Develop a hybrid machine learning model for stress classification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3840479"/>
            <a:ext cx="1463040" cy="36576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Completed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709160"/>
            <a:ext cx="457200" cy="457200"/>
          </a:xfrm>
          <a:prstGeom prst="ellipse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63440"/>
            <a:ext cx="5943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2C2C2C"/>
                </a:solidFill>
                <a:latin typeface="Arial"/>
              </a:rPr>
              <a:t>Enable real-time, on-device stress monitoring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4709160"/>
            <a:ext cx="1463040" cy="36576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Completed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577840"/>
            <a:ext cx="457200" cy="457200"/>
          </a:xfrm>
          <a:prstGeom prst="ellipse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5943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2C2C2C"/>
                </a:solidFill>
                <a:latin typeface="Arial"/>
              </a:rPr>
              <a:t>Implement personalized calibration with adaptive stress interventions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23760" y="5577840"/>
            <a:ext cx="1463040" cy="36576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Completed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Project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1280160" cy="73152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28800"/>
            <a:ext cx="36576" cy="18288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109728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C2C2C"/>
                </a:solidFill>
                <a:latin typeface="Arial"/>
              </a:rPr>
              <a:t>Research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17320"/>
            <a:ext cx="6858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Literature review, behavioral indicators, privacy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011680"/>
            <a:ext cx="1280160" cy="73152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43200"/>
            <a:ext cx="36576" cy="18288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01168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C2C2C"/>
                </a:solidFill>
                <a:latin typeface="Arial"/>
              </a:rPr>
              <a:t>Data &amp;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331720"/>
            <a:ext cx="6858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pynput collector, 23-feature pipeline, synthetic data generator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926080"/>
            <a:ext cx="1280160" cy="73152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657600"/>
            <a:ext cx="36576" cy="18288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92608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C2C2C"/>
                </a:solidFill>
                <a:latin typeface="Arial"/>
              </a:rPr>
              <a:t>Model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46120"/>
            <a:ext cx="6858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XGBoost, DualNormalizer, PersonalBaseline, 1D-CNN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840480"/>
            <a:ext cx="1280160" cy="73152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572000"/>
            <a:ext cx="36576" cy="18288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384048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C2C2C"/>
                </a:solidFill>
                <a:latin typeface="Arial"/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160520"/>
            <a:ext cx="6858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FastAPI backend, Next.js frontend, WebSocket streaming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754880"/>
            <a:ext cx="1280160" cy="731520"/>
          </a:xfrm>
          <a:prstGeom prst="round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486400"/>
            <a:ext cx="36576" cy="18288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75488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C2C2C"/>
                </a:solidFill>
                <a:latin typeface="Arial"/>
              </a:rPr>
              <a:t>Evaluation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074920"/>
            <a:ext cx="6858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Group K-Fold, calibration, benchmark comparison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5669280"/>
            <a:ext cx="1280160" cy="731520"/>
          </a:xfrm>
          <a:prstGeom prst="round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Phase 6</a:t>
            </a:r>
          </a:p>
          <a:p>
            <a:pPr algn="ctr"/>
            <a:r>
              <a:rPr sz="900" b="0">
                <a:solidFill>
                  <a:srgbClr val="2C2C2C"/>
                </a:solidFill>
                <a:latin typeface="Arial"/>
              </a:rP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566928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C2C2C"/>
                </a:solidFill>
                <a:latin typeface="Arial"/>
              </a:rPr>
              <a:t>Real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989320"/>
            <a:ext cx="6858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15-20 real users, browser extension, multi-modal fusion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2103120" cy="2103120"/>
          </a:xfrm>
          <a:prstGeom prst="roundRect">
            <a:avLst/>
          </a:prstGeom>
          <a:solidFill>
            <a:srgbClr val="1A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Desktop App</a:t>
            </a:r>
          </a:p>
          <a:p>
            <a:pPr algn="ctr"/>
            <a:r>
              <a:rPr sz="1000" b="0">
                <a:solidFill>
                  <a:srgbClr val="AADDEE"/>
                </a:solidFill>
                <a:latin typeface="Arial"/>
              </a:rPr>
              <a:t>Python/pynput
pynput collector
Keyboard/Mouse
Context events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371600"/>
            <a:ext cx="2103120" cy="2103120"/>
          </a:xfrm>
          <a:prstGeom prst="roundRect">
            <a:avLst/>
          </a:prstGeom>
          <a:solidFill>
            <a:srgbClr val="1A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ML Engine</a:t>
            </a:r>
          </a:p>
          <a:p>
            <a:pPr algn="ctr"/>
            <a:r>
              <a:rPr sz="1000" b="0">
                <a:solidFill>
                  <a:srgbClr val="AADDEE"/>
                </a:solidFill>
                <a:latin typeface="Arial"/>
              </a:rPr>
              <a:t>XGBoost + CNN
23-feature extraction
DualNormalizer
46-dim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371600"/>
            <a:ext cx="2103120" cy="2103120"/>
          </a:xfrm>
          <a:prstGeom prst="roundRect">
            <a:avLst/>
          </a:prstGeom>
          <a:solidFill>
            <a:srgbClr val="1A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Backend API</a:t>
            </a:r>
          </a:p>
          <a:p>
            <a:pPr algn="ctr"/>
            <a:r>
              <a:rPr sz="1000" b="0">
                <a:solidFill>
                  <a:srgbClr val="AADDEE"/>
                </a:solidFill>
                <a:latin typeface="Arial"/>
              </a:rPr>
              <a:t>FastAPI
7 REST endpoints
WebSocket
Port 5000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3840480"/>
            <a:ext cx="2103120" cy="2103120"/>
          </a:xfrm>
          <a:prstGeom prst="roundRect">
            <a:avLst/>
          </a:prstGeom>
          <a:solidFill>
            <a:srgbClr val="1A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Frontend</a:t>
            </a:r>
          </a:p>
          <a:p>
            <a:pPr algn="ctr"/>
            <a:r>
              <a:rPr sz="1000" b="0">
                <a:solidFill>
                  <a:srgbClr val="AADDEE"/>
                </a:solidFill>
                <a:latin typeface="Arial"/>
              </a:rPr>
              <a:t>Next.js 15
RiskMeter gauge
TimelineChart
Metrics cards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2377440"/>
            <a:ext cx="182880" cy="73152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2377440"/>
            <a:ext cx="182880" cy="73152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3474720"/>
            <a:ext cx="73152" cy="36576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Data Collection (Privacy-First)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41148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277884"/>
                </a:solidFill>
                <a:latin typeface="Arial"/>
              </a:rPr>
              <a:t>What We Record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2C2C2C"/>
                </a:solidFill>
                <a:latin typeface="Arial"/>
              </a:rPr>
              <a:t>Keyboard: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timestamp_press, timestamp_release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key_category (alpha/digit/special)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2C2C2C"/>
                </a:solidFill>
                <a:latin typeface="Arial"/>
              </a:rPr>
              <a:t>Mouse: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x, y position, timestamp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click_type, scroll_delta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2C2C2C"/>
                </a:solidFill>
                <a:latin typeface="Arial"/>
              </a:rPr>
              <a:t>Context: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switch_timestamp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app_category_hash (SHA-256)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188720"/>
            <a:ext cx="41148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CC3333"/>
                </a:solidFill>
                <a:latin typeface="Arial"/>
              </a:rPr>
              <a:t>What We DON'T Record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Actual key characters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Screen content or URLs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Application names (hashed)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File contents or messages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4023360"/>
            <a:ext cx="4114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277884"/>
                </a:solidFill>
                <a:latin typeface="Arial"/>
              </a:rPr>
              <a:t>Privacy Guarantees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Zero content capture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On-device processing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SHA-256 app hashing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No data leaves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Feature Extraction (23 Dimensions)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2057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Keyboard (11)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hold_time_mean/std/median
flight_time_mean/std
typing_speed_wpm
error_rate
pause_frequency/duration
burst_length_mean
rhythm_entropy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188720"/>
            <a:ext cx="2057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Mouse (6)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mouse_speed_mean/std
direction_change_rate
click_count
rage_click_count
scroll_velocity_std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188720"/>
            <a:ext cx="2057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Context (3)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tab_switch_freq
switch_entropy
session_fragmentation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5160" y="1188720"/>
            <a:ext cx="2057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Temporal (3)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hour_of_day
day_of_week
session_duration_min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120640"/>
            <a:ext cx="8595360" cy="1097280"/>
          </a:xfrm>
          <a:prstGeom prst="roundRect">
            <a:avLst/>
          </a:prstGeom>
          <a:solidFill>
            <a:srgbClr val="F0F0F0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Dual Normalization Pipeline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23 raw features  -&gt;  [23 global z-scores] + [23 per-user circadian z-scores]  -&gt;  46 features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Machine Learning Model &amp; Calibration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41148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277884"/>
                </a:solidFill>
                <a:latin typeface="Arial"/>
              </a:rPr>
              <a:t>XGBoost Classifier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Objective: multi:softprob (3-class)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Max depth: 6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Estimators: 350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Learning rate: 0.08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Subsample: 0.9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Class weights: Balanced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1D-CNN (Secondary Branch)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Processes raw keystroke sequences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Captures digraph/trigraph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188720"/>
            <a:ext cx="4114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DualNormalizer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Global: (x - mu) / sigma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Per-user circadian hourly baselines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Output: 46-dim feature 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3840480"/>
            <a:ext cx="4114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PersonalBaseline (SQLite + EMA)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Per-user feature means per hour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Exponential Moving Average updates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277884"/>
                </a:solidFill>
                <a:latin typeface="Arial"/>
              </a:rPr>
              <a:t>+1.9% F1 improvement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1381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645920"/>
                <a:gridCol w="201168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Year &amp; Citation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Key Finding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Naegelin et al.
(2025) ETH Zurich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Naegelin et al.
(2025) ETH Zurich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Keyboard+mouse
ML analysis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Keyboard+mouse
ML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OSF: qpekf
36 emp, 8wk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OSF: qpekf
36 emp, 8wk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Universal models
perform poorly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Universal models
perform poorly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F1 = 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VTT Finland
(2024)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VTT Finland
(2024)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AI mouse
movement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AI mouse
movement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Proprietary
workplace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Proprietary
workplace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Mouse &gt; heart
rate for stress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Mouse &gt; heart
rate for stress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71% acc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Pepa et al.
(2021)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Pepa et al.
(2021)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Keystroke
dynamics RF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Keystroke
dynamics 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Zenodo
62 users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Zenodo
62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In-the-wild
feasible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In-the-wild
feasible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F1 = 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CMU (2023)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Hold time +
latency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Hold time +
latency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CMU InfSci
116 subjects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CMU InfSci
116 subjects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Fits-and-starts
pattern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Fits-and-starts
pattern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76% acc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ETH Zurich
(2023)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ETH Zurich
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Neuromotor
noise theory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Neuromotor
noise theory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OSF: qpekf
Lab study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OSF: qpekf
Lab study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Typing &gt; heart
rate</a:t>
                      </a:r>
                    </a:p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Typing &gt; heart
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F1 = 62.5%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Progress Since Last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585216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Details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ML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4 Python modules: collector, extractor, model, synthetic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Backend API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Complete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FastAPI: 7 REST endpoints + WebSocket streaming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Next.js 15: 6 pages, 7 components, real-time 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Complete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Group K-Fold, calibration eval, realistic simulator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Research report, ML pipeline, results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Live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53 files at iAMv1/mindpulse, clean structure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Challenges Faced &amp; Overcome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22860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277884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51560"/>
            <a:ext cx="292608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CC3333"/>
                </a:solidFill>
                <a:latin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277884"/>
                </a:solidFill>
                <a:latin typeface="Arial"/>
              </a:rPr>
              <a:t>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63040"/>
            <a:ext cx="22860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2C2C2C"/>
                </a:solidFill>
                <a:latin typeface="Arial"/>
              </a:rPr>
              <a:t>Feature Mismatch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29260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Model expected 46, inference passed 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77884"/>
                </a:solidFill>
                <a:latin typeface="Arial"/>
              </a:rPr>
              <a:t>Implemented DualNormalizer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240280"/>
            <a:ext cx="22860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2C2C2C"/>
                </a:solidFill>
                <a:latin typeface="Arial"/>
              </a:rPr>
              <a:t>Import Failures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240280"/>
            <a:ext cx="29260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Relative imports broke in __main__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224028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77884"/>
                </a:solidFill>
                <a:latin typeface="Arial"/>
              </a:rPr>
              <a:t>Converted to package imports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017520"/>
            <a:ext cx="22860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2C2C2C"/>
                </a:solidFill>
                <a:latin typeface="Arial"/>
              </a:rPr>
              <a:t>Duplicate Servers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017520"/>
            <a:ext cx="29260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Two separate FastAPI implementations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01752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77884"/>
                </a:solidFill>
                <a:latin typeface="Arial"/>
              </a:rPr>
              <a:t>Consolidated into single 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794760"/>
            <a:ext cx="22860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2C2C2C"/>
                </a:solidFill>
                <a:latin typeface="Arial"/>
              </a:rPr>
              <a:t>Unrealistic 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794760"/>
            <a:ext cx="29260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99%+ F1 from separable classes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79476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77884"/>
                </a:solidFill>
                <a:latin typeface="Arial"/>
              </a:rPr>
              <a:t>Created overlap simulator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572000"/>
            <a:ext cx="22860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2C2C2C"/>
                </a:solidFill>
                <a:latin typeface="Arial"/>
              </a:rPr>
              <a:t>Unicode Errors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572000"/>
            <a:ext cx="29260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Box-drawing chars caused codec errors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57200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77884"/>
                </a:solidFill>
                <a:latin typeface="Arial"/>
              </a:rPr>
              <a:t>Replaced with ASCII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5349240"/>
            <a:ext cx="22860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2C2C2C"/>
                </a:solidFill>
                <a:latin typeface="Arial"/>
              </a:rPr>
              <a:t>Path Resolution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5349240"/>
            <a:ext cx="29260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Artifacts pointed to wrong directory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534924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77884"/>
                </a:solidFill>
                <a:latin typeface="Arial"/>
              </a:rPr>
              <a:t>Module-relative paths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Performance Comparison &amp;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F1-Macro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Std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Universal (no 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46.8%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48.0%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+/- 4.6%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Calibrated (40 samp)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50.0%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+/- 4.0%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Improvement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+1.9%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+2.0%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74320" y="3108960"/>
            <a:ext cx="41148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277884"/>
                </a:solidFill>
                <a:latin typeface="Arial"/>
              </a:rPr>
              <a:t>Per-Class Performance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NEUTRAL   P=0.54  R=0.71  F1=0.62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CC3333"/>
                </a:solidFill>
                <a:latin typeface="Arial"/>
              </a:rPr>
              <a:t>MILD      P=0.31  R=0.11  F1=0.17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2C2C2C"/>
                </a:solidFill>
                <a:latin typeface="Arial"/>
              </a:rPr>
              <a:t>STRESSED  P=0.28  R=0.33  F1=0.30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188720"/>
          <a:ext cx="4114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F1-Macro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ETH Zurich 2025 (Universal)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MindPulse (Universal)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46.8%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MindPulse (Calibrated)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ETH Zurich 2023 (Lab)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62.5%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Pepa et al.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60.0%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754880" y="4206240"/>
            <a:ext cx="411480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CC3333"/>
                </a:solidFill>
                <a:latin typeface="Arial"/>
              </a:rPr>
              <a:t>Key Observation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MILD class bottleneck (F1=0.17)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Heavy overlap with NEUTRAL/STRESSED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Research Gaps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41148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277884"/>
                </a:solidFill>
                <a:latin typeface="Arial"/>
              </a:rPr>
              <a:t>Gaps We Overcame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Limited feature sets (8-12) -&gt; 23 features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No personal calibration -&gt; DualNormalizer + EMA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Privacy concerns -&gt; Zero content capture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Simplified evaluation -&gt; Group K-Fold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No self-report noise -&gt; 76.8% accuracy sim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No real-time capability -&gt; WebSocket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188720"/>
            <a:ext cx="41148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C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CC3333"/>
                </a:solidFill>
                <a:latin typeface="Arial"/>
              </a:rPr>
              <a:t>New Research Gaps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6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No real-user data (all simulated)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MILD class detection weak (F1=0.17)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Desktop-only (pynput dependency)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Calibration cold start problem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Long-term concept drift untested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New Challenges &amp; Strategy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76809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2743200"/>
                <a:gridCol w="146304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Challenge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Problem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Strategy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Timeline</a:t>
                      </a:r>
                    </a:p>
                  </a:txBody>
                  <a:tcPr>
                    <a:solidFill>
                      <a:srgbClr val="277884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Real-User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All eval on simulated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Deploy 15-20 volunteers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2-3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MILD Class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F1=0.17, overlap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Ordinal regression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1 month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Cross-Platform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Desktop-only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Chrome extension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Cold Start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No baseline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Pop -&gt; personal model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Done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Concept 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Behavior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SPC + 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C2C2C"/>
                          </a:solidFill>
                          <a:latin typeface="Arial"/>
                        </a:rPr>
                        <a:t>3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77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Conclusion &amp;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41148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277884"/>
                </a:solidFill>
                <a:latin typeface="Arial"/>
              </a:rPr>
              <a:t>Key Takeaways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Privacy-first stress detection is feasible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46.8% F1 universal, 48.7% calibrated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23 features with 3 novel ones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Complete full-stack implementation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2C2C2C"/>
                </a:solidFill>
                <a:latin typeface="Arial"/>
              </a:rPr>
              <a:t>  Honest evaluation (Group K-Fold)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4206240"/>
            <a:ext cx="41148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Next Steps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Real-user deployment (15-20 users)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Browser extension development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2C2C2C"/>
                </a:solidFill>
                <a:latin typeface="Arial"/>
              </a:rPr>
              <a:t>  Multi-modal fusion (facial + physio)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188720"/>
            <a:ext cx="41148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78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277884"/>
                </a:solidFill>
                <a:latin typeface="Arial"/>
              </a:rPr>
              <a:t>References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400" b="0">
                <a:solidFill>
                  <a:srgbClr val="2C2C2C"/>
                </a:solidFill>
                <a:latin typeface="Arial"/>
              </a:rPr>
              <a:t/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[1] Naegelin et al. (2025) ETH Zurich - osf.io/qpekf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[2] VTT Finland (2024) AI mouse movement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[3] Pepa et al. (2021) Keystroke dynamics - Zenodo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[4] CMU (2023) Keystroke stress - CMU InfSci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[5] ETH Zurich (2023) Neuromotor noise - OSF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[6] XGBoost - github.com/dmlc/xgboost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[7] FastAPI - github.com/tiangolo/fastapi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[8] Next.js - github.com/vercel/next.js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[9] pynput - pypi.org/project/pynput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[10] scikit-learn - github.com/scikit-learn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2C2C2C"/>
                </a:solidFill>
                <a:latin typeface="Arial"/>
              </a:rPr>
              <a:t>[11] Amer. Inst. Stress (2023) - stress.org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Equity">
  <a:themeElements>
    <a:clrScheme name="Equity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Equity">
  <a:themeElements>
    <a:clrScheme name="Equity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